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64" r:id="rId4"/>
    <p:sldId id="258" r:id="rId5"/>
    <p:sldId id="261" r:id="rId6"/>
    <p:sldId id="265" r:id="rId7"/>
    <p:sldId id="259" r:id="rId8"/>
    <p:sldId id="267" r:id="rId9"/>
    <p:sldId id="266" r:id="rId10"/>
    <p:sldId id="260" r:id="rId11"/>
    <p:sldId id="262"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BF5"/>
    <a:srgbClr val="CFD5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45B1BC09-D557-492E-9C5D-E4CF9E078DE2}" type="datetimeFigureOut">
              <a:rPr lang="en-US" smtClean="0"/>
              <a:t>9/19/2026</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7EED5C5B-9EF4-44F9-8A5E-F9CA765F3D63}"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2">
            <a:lumMod val="20000"/>
            <a:lumOff val="80000"/>
            <a:alpha val="10000"/>
          </a:schemeClr>
        </a:solidFill>
        <a:effectLst/>
      </p:bgPr>
    </p:bg>
    <p:spTree>
      <p:nvGrpSpPr>
        <p:cNvPr id="1" name=""/>
        <p:cNvGrpSpPr/>
        <p:nvPr/>
      </p:nvGrpSpPr>
      <p:grpSpPr>
        <a:xfrm>
          <a:off x="0" y="0"/>
          <a:ext cx="0" cy="0"/>
          <a:chOff x="0" y="0"/>
          <a:chExt cx="0" cy="0"/>
        </a:xfrm>
      </p:grpSpPr>
      <p:pic>
        <p:nvPicPr>
          <p:cNvPr id="7" name="Picture 11" descr="KL University Hyderabad"/>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44450"/>
            <a:ext cx="21018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Rectangle 7"/>
          <p:cNvSpPr/>
          <p:nvPr userDrawn="1"/>
        </p:nvSpPr>
        <p:spPr>
          <a:xfrm>
            <a:off x="0" y="6811963"/>
            <a:ext cx="12192000" cy="46037"/>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9" name="Rectangle 8"/>
          <p:cNvSpPr/>
          <p:nvPr userDrawn="1"/>
        </p:nvSpPr>
        <p:spPr>
          <a:xfrm>
            <a:off x="0" y="0"/>
            <a:ext cx="12192000" cy="46038"/>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10" name="Picture 6" descr="Background pattern&#10;&#10;Description automatically generated"/>
          <p:cNvPicPr>
            <a:picLocks noChangeAspect="1" noChangeArrowheads="1"/>
          </p:cNvPicPr>
          <p:nvPr userDrawn="1"/>
        </p:nvPicPr>
        <p:blipFill>
          <a:blip r:embed="rId1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0" y="0"/>
            <a:ext cx="300355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61938" y="1027775"/>
            <a:ext cx="9144000" cy="2316702"/>
          </a:xfrm>
        </p:spPr>
        <p:txBody>
          <a:bodyPr/>
          <a:lstStyle/>
          <a:p>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b="1" dirty="0">
                <a:solidFill>
                  <a:srgbClr val="C00000"/>
                </a:solidFill>
                <a:latin typeface="+mn-lt"/>
              </a:rPr>
            </a:br>
            <a:br>
              <a:rPr lang="en-US" sz="4000" b="1" dirty="0">
                <a:solidFill>
                  <a:srgbClr val="C00000"/>
                </a:solidFill>
                <a:latin typeface="+mn-lt"/>
              </a:rPr>
            </a:br>
            <a:r>
              <a:rPr lang="en-US" sz="4000" b="1" dirty="0">
                <a:solidFill>
                  <a:srgbClr val="C00000"/>
                </a:solidFill>
                <a:latin typeface="+mn-lt"/>
              </a:rPr>
              <a:t>Data Structures and Algorithms -3 (25CS2103E)</a:t>
            </a:r>
            <a:br>
              <a:rPr lang="en-US" sz="4000" b="1" dirty="0">
                <a:solidFill>
                  <a:srgbClr val="C00000"/>
                </a:solidFill>
                <a:latin typeface="+mn-lt"/>
              </a:rPr>
            </a:br>
            <a:br>
              <a:rPr lang="en-US" sz="4000" b="1" dirty="0">
                <a:solidFill>
                  <a:srgbClr val="C00000"/>
                </a:solidFill>
                <a:latin typeface="+mn-lt"/>
              </a:rPr>
            </a:br>
            <a:r>
              <a:rPr lang="en-IN" sz="4000" b="1" dirty="0">
                <a:solidFill>
                  <a:srgbClr val="C00000"/>
                </a:solidFill>
                <a:latin typeface="+mn-lt"/>
              </a:rPr>
              <a:t>STUDENT DOCUMENT SIMILARITY ANALYSIS</a:t>
            </a:r>
            <a:endParaRPr lang="en-US" sz="4000" b="1" dirty="0">
              <a:solidFill>
                <a:srgbClr val="C00000"/>
              </a:solidFill>
              <a:latin typeface="+mn-lt"/>
            </a:endParaRPr>
          </a:p>
        </p:txBody>
      </p:sp>
      <p:sp>
        <p:nvSpPr>
          <p:cNvPr id="3" name="Subtitle 2"/>
          <p:cNvSpPr>
            <a:spLocks noGrp="1"/>
          </p:cNvSpPr>
          <p:nvPr>
            <p:ph type="subTitle" idx="1"/>
          </p:nvPr>
        </p:nvSpPr>
        <p:spPr>
          <a:xfrm>
            <a:off x="4270160" y="3513524"/>
            <a:ext cx="4551284" cy="1396014"/>
          </a:xfrm>
        </p:spPr>
        <p:txBody>
          <a:bodyPr/>
          <a:lstStyle/>
          <a:p>
            <a:r>
              <a:rPr lang="en-US" dirty="0">
                <a:solidFill>
                  <a:srgbClr val="0070C0"/>
                </a:solidFill>
              </a:rPr>
              <a:t>Team Members</a:t>
            </a:r>
          </a:p>
          <a:p>
            <a:r>
              <a:rPr lang="en-IN" dirty="0">
                <a:solidFill>
                  <a:schemeClr val="accent5">
                    <a:lumMod val="75000"/>
                  </a:schemeClr>
                </a:solidFill>
              </a:rPr>
              <a:t>J. SIMRAN - </a:t>
            </a:r>
            <a:r>
              <a:rPr lang="en-IN" dirty="0">
                <a:solidFill>
                  <a:schemeClr val="accent5">
                    <a:lumMod val="75000"/>
                  </a:schemeClr>
                </a:solidFill>
                <a:latin typeface="Aptos" panose="020B0004020202020204" pitchFamily="34" charset="0"/>
              </a:rPr>
              <a:t>2520030166</a:t>
            </a:r>
            <a:br>
              <a:rPr lang="en-IN" dirty="0">
                <a:solidFill>
                  <a:schemeClr val="accent5">
                    <a:lumMod val="75000"/>
                  </a:schemeClr>
                </a:solidFill>
              </a:rPr>
            </a:br>
            <a:r>
              <a:rPr lang="en-IN" dirty="0">
                <a:solidFill>
                  <a:schemeClr val="accent5">
                    <a:lumMod val="75000"/>
                  </a:schemeClr>
                </a:solidFill>
              </a:rPr>
              <a:t>K. ANUSRI - </a:t>
            </a:r>
            <a:r>
              <a:rPr lang="en-IN" dirty="0">
                <a:solidFill>
                  <a:schemeClr val="accent5">
                    <a:lumMod val="75000"/>
                  </a:schemeClr>
                </a:solidFill>
                <a:latin typeface="Aptos" panose="020B0004020202020204" pitchFamily="34" charset="0"/>
              </a:rPr>
              <a:t>2520030432</a:t>
            </a:r>
            <a:br>
              <a:rPr lang="en-IN" dirty="0">
                <a:solidFill>
                  <a:schemeClr val="accent5">
                    <a:lumMod val="75000"/>
                  </a:schemeClr>
                </a:solidFill>
                <a:latin typeface="Aptos" panose="020B0004020202020204" pitchFamily="34" charset="0"/>
              </a:rPr>
            </a:br>
            <a:r>
              <a:rPr lang="en-IN" dirty="0">
                <a:solidFill>
                  <a:schemeClr val="accent5">
                    <a:lumMod val="75000"/>
                  </a:schemeClr>
                </a:solidFill>
                <a:latin typeface="Aptos" panose="020B0004020202020204" pitchFamily="34" charset="0"/>
              </a:rPr>
              <a:t>S. RIKHIL - 2520030480</a:t>
            </a:r>
            <a:endParaRPr lang="en-US" dirty="0">
              <a:solidFill>
                <a:schemeClr val="accent5">
                  <a:lumMod val="75000"/>
                </a:schemeClr>
              </a:solidFill>
            </a:endParaRPr>
          </a:p>
          <a:p>
            <a:pPr marL="171450" algn="ctr">
              <a:lnSpc>
                <a:spcPct val="107000"/>
              </a:lnSpc>
              <a:spcAft>
                <a:spcPts val="800"/>
              </a:spcAft>
            </a:pPr>
            <a:endPar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endParaRPr>
          </a:p>
          <a:p>
            <a:pPr marL="171450" algn="ctr">
              <a:lnSpc>
                <a:spcPct val="107000"/>
              </a:lnSpc>
              <a:spcAft>
                <a:spcPts val="800"/>
              </a:spcAft>
            </a:pPr>
            <a:r>
              <a:rPr lang="en-US" sz="1800" kern="0" dirty="0">
                <a:solidFill>
                  <a:srgbClr val="000000"/>
                </a:solidFill>
                <a:effectLst/>
                <a:latin typeface="Times New Roman" panose="02020603050405020304" pitchFamily="18" charset="0"/>
                <a:ea typeface="Times New Roman" panose="02020603050405020304" pitchFamily="18" charset="0"/>
                <a:cs typeface="Gautami" panose="020B0502040204020203" pitchFamily="34" charset="0"/>
              </a:rPr>
              <a:t>Under the Esteemed Guidance of</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pPr algn="ctr">
              <a:lnSpc>
                <a:spcPct val="107000"/>
              </a:lnSpc>
              <a:spcAft>
                <a:spcPts val="800"/>
              </a:spcAft>
            </a:pPr>
            <a:r>
              <a:rPr lang="en-US" sz="1800" b="1" kern="0" dirty="0">
                <a:solidFill>
                  <a:srgbClr val="000000"/>
                </a:solidFill>
                <a:latin typeface="Times New Roman" panose="02020603050405020304" pitchFamily="18" charset="0"/>
                <a:ea typeface="Calibri" panose="020F0502020204030204" pitchFamily="34" charset="0"/>
                <a:cs typeface="Gautami" panose="020B0502040204020203" pitchFamily="34" charset="0"/>
              </a:rPr>
              <a:t>Dr. S Madhavi</a:t>
            </a:r>
            <a:br>
              <a:rPr lang="en-US" sz="1800" b="1" kern="0" dirty="0">
                <a:solidFill>
                  <a:srgbClr val="000000"/>
                </a:solidFill>
                <a:latin typeface="Times New Roman" panose="02020603050405020304" pitchFamily="18" charset="0"/>
                <a:ea typeface="Calibri" panose="020F0502020204030204" pitchFamily="34" charset="0"/>
                <a:cs typeface="Gautami" panose="020B0502040204020203" pitchFamily="34" charset="0"/>
              </a:rPr>
            </a:br>
            <a:r>
              <a:rPr lang="en-US" sz="1800" b="1" kern="0" dirty="0">
                <a:solidFill>
                  <a:srgbClr val="000000"/>
                </a:solidFill>
                <a:latin typeface="Times New Roman" panose="02020603050405020304" pitchFamily="18" charset="0"/>
                <a:ea typeface="Calibri" panose="020F0502020204030204" pitchFamily="34" charset="0"/>
                <a:cs typeface="Gautami" panose="020B0502040204020203" pitchFamily="34" charset="0"/>
              </a:rPr>
              <a:t>CSE</a:t>
            </a:r>
            <a:endParaRPr lang="en-IN" sz="1800" kern="100" dirty="0">
              <a:effectLst/>
              <a:latin typeface="Calibri" panose="020F0502020204030204" pitchFamily="34" charset="0"/>
              <a:ea typeface="Calibri" panose="020F0502020204030204" pitchFamily="34" charset="0"/>
              <a:cs typeface="Gautami" panose="020B0502040204020203" pitchFamily="34" charset="0"/>
            </a:endParaRPr>
          </a:p>
          <a:p>
            <a:endParaRPr lang="en-US" dirty="0">
              <a:solidFill>
                <a:srgbClr val="0070C0"/>
              </a:solidFill>
            </a:endParaRPr>
          </a:p>
          <a:p>
            <a:endParaRPr lang="en-US"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C70C049-38C4-198F-3181-AACE07DE24AE}"/>
              </a:ext>
            </a:extLst>
          </p:cNvPr>
          <p:cNvSpPr txBox="1"/>
          <p:nvPr/>
        </p:nvSpPr>
        <p:spPr>
          <a:xfrm>
            <a:off x="3736109" y="806448"/>
            <a:ext cx="6936386" cy="5835572"/>
          </a:xfrm>
          <a:prstGeom prst="rect">
            <a:avLst/>
          </a:prstGeom>
          <a:noFill/>
        </p:spPr>
        <p:txBody>
          <a:bodyPr wrap="none" rtlCol="0">
            <a:spAutoFit/>
          </a:bodyPr>
          <a:lstStyle/>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Abstract</a:t>
            </a:r>
          </a:p>
          <a:p>
            <a:pPr marL="457200" indent="-457200" algn="l" rtl="0" eaLnBrk="1" fontAlgn="t" latinLnBrk="0" hangingPunct="1">
              <a:lnSpc>
                <a:spcPct val="150000"/>
              </a:lnSpc>
              <a:spcBef>
                <a:spcPts val="0"/>
              </a:spcBef>
              <a:spcAft>
                <a:spcPts val="0"/>
              </a:spcAft>
              <a:buFont typeface="Arial" panose="020B0604020202020204" pitchFamily="34" charset="0"/>
              <a:buChar char="•"/>
            </a:pPr>
            <a:r>
              <a:rPr lang="en-US" sz="3200" b="0" i="0" u="none" strike="noStrike" kern="1200" dirty="0">
                <a:solidFill>
                  <a:srgbClr val="000000"/>
                </a:solidFill>
                <a:effectLst/>
                <a:latin typeface="Calibri" panose="020F0502020204030204" pitchFamily="34" charset="0"/>
              </a:rPr>
              <a:t>Introduction</a:t>
            </a:r>
            <a:endParaRPr lang="en-IN" sz="3200" b="0" i="0" u="none" strike="noStrike" dirty="0">
              <a:effectLst/>
              <a:latin typeface="Arial" panose="020B0604020202020204" pitchFamily="34" charset="0"/>
            </a:endParaRPr>
          </a:p>
          <a:p>
            <a:pPr marL="457200" indent="-457200" algn="l" rtl="0" eaLnBrk="1" fontAlgn="t" latinLnBrk="0" hangingPunct="1">
              <a:lnSpc>
                <a:spcPct val="150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Literature survey</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Problem Statement and Objectives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Hardware and Software requirements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Results</a:t>
            </a:r>
            <a:endParaRPr lang="en-IN" sz="3200" b="0" i="0" u="none" strike="noStrike" dirty="0">
              <a:effectLst/>
              <a:latin typeface="Arial" panose="020B0604020202020204" pitchFamily="34" charset="0"/>
            </a:endParaRP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Conclusion </a:t>
            </a:r>
          </a:p>
          <a:p>
            <a:pPr marL="457200" indent="-457200" algn="l" rtl="0" eaLnBrk="1" fontAlgn="t" latinLnBrk="0" hangingPunct="1">
              <a:lnSpc>
                <a:spcPct val="107000"/>
              </a:lnSpc>
              <a:spcBef>
                <a:spcPts val="0"/>
              </a:spcBef>
              <a:spcAft>
                <a:spcPts val="800"/>
              </a:spcAft>
              <a:buFont typeface="Arial" panose="020B0604020202020204" pitchFamily="34" charset="0"/>
              <a:buChar char="•"/>
            </a:pPr>
            <a:r>
              <a:rPr lang="en-US" sz="3200" b="0" i="0" u="none" strike="noStrike" dirty="0">
                <a:solidFill>
                  <a:srgbClr val="000000"/>
                </a:solidFill>
                <a:effectLst/>
                <a:latin typeface="Calibri" panose="020F0502020204030204" pitchFamily="34" charset="0"/>
                <a:ea typeface="Times New Roman" panose="02020603050405020304" pitchFamily="18" charset="0"/>
                <a:cs typeface="Gautami" panose="020B0502040204020203" pitchFamily="34" charset="0"/>
              </a:rPr>
              <a:t>Future Scope </a:t>
            </a:r>
            <a:endParaRPr lang="en-IN" sz="3200" b="0" i="0" u="none" strike="noStrike" dirty="0">
              <a:effectLst/>
              <a:latin typeface="Arial" panose="020B0604020202020204" pitchFamily="34" charset="0"/>
            </a:endParaRPr>
          </a:p>
          <a:p>
            <a:endParaRPr lang="en-IN" dirty="0"/>
          </a:p>
        </p:txBody>
      </p:sp>
      <p:sp>
        <p:nvSpPr>
          <p:cNvPr id="8" name="Rectangle: Rounded Corners 7">
            <a:extLst>
              <a:ext uri="{FF2B5EF4-FFF2-40B4-BE49-F238E27FC236}">
                <a16:creationId xmlns:a16="http://schemas.microsoft.com/office/drawing/2014/main" id="{3EAC2F32-24D5-FDE9-EB0F-31C7733C95E6}"/>
              </a:ext>
            </a:extLst>
          </p:cNvPr>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CCA499C0-FC38-6642-1E16-B8CFFC9C9314}"/>
              </a:ext>
            </a:extLst>
          </p:cNvPr>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21673"/>
            <a:ext cx="6871855" cy="584775"/>
          </a:xfrm>
          <a:prstGeom prst="rect">
            <a:avLst/>
          </a:prstGeom>
          <a:noFill/>
        </p:spPr>
        <p:txBody>
          <a:bodyPr wrap="square" rtlCol="0">
            <a:spAutoFit/>
          </a:bodyPr>
          <a:lstStyle/>
          <a:p>
            <a:pPr algn="ctr"/>
            <a:r>
              <a:rPr lang="en-US" sz="3200" b="1" dirty="0">
                <a:solidFill>
                  <a:schemeClr val="bg1"/>
                </a:solidFill>
              </a:rPr>
              <a:t>Abstract</a:t>
            </a:r>
          </a:p>
        </p:txBody>
      </p:sp>
      <p:sp>
        <p:nvSpPr>
          <p:cNvPr id="4" name="TextBox 3">
            <a:extLst>
              <a:ext uri="{FF2B5EF4-FFF2-40B4-BE49-F238E27FC236}">
                <a16:creationId xmlns:a16="http://schemas.microsoft.com/office/drawing/2014/main" id="{E6190054-0CCE-CD66-9D5C-0ED4BF84143F}"/>
              </a:ext>
            </a:extLst>
          </p:cNvPr>
          <p:cNvSpPr txBox="1"/>
          <p:nvPr/>
        </p:nvSpPr>
        <p:spPr>
          <a:xfrm>
            <a:off x="429208" y="1148575"/>
            <a:ext cx="11299372" cy="5016758"/>
          </a:xfrm>
          <a:prstGeom prst="rect">
            <a:avLst/>
          </a:prstGeom>
          <a:noFill/>
        </p:spPr>
        <p:txBody>
          <a:bodyPr wrap="square" rtlCol="0">
            <a:spAutoFit/>
          </a:bodyPr>
          <a:lstStyle/>
          <a:p>
            <a:pPr algn="just"/>
            <a:r>
              <a:rPr lang="en-IN" sz="3200" dirty="0"/>
              <a:t>The project is a </a:t>
            </a:r>
            <a:r>
              <a:rPr lang="en-IN" sz="3200" b="1" dirty="0"/>
              <a:t>Student Document Similarity Analysis system</a:t>
            </a:r>
            <a:r>
              <a:rPr lang="en-IN" sz="3200" dirty="0"/>
              <a:t> that </a:t>
            </a:r>
            <a:r>
              <a:rPr lang="en-IN" sz="3200" b="1" dirty="0"/>
              <a:t>uses the Z-Algorithm</a:t>
            </a:r>
            <a:r>
              <a:rPr lang="en-IN" sz="3200" dirty="0"/>
              <a:t> to identify similar content between multiple documents.</a:t>
            </a:r>
          </a:p>
          <a:p>
            <a:pPr algn="just"/>
            <a:r>
              <a:rPr lang="en-IN" sz="3200" dirty="0"/>
              <a:t>The system reads a collection of documents from a corpus and processes their text into meaningful sentence chunks.</a:t>
            </a:r>
          </a:p>
          <a:p>
            <a:pPr algn="just"/>
            <a:r>
              <a:rPr lang="en-IN" sz="3200" dirty="0"/>
              <a:t>It compares every possible pair of documents, calculates their similarity percentage, and displays the similar document pairs from highest to lowest similarity. The system helps in identifying documents that contain a significant amount of common or duplicated content.</a:t>
            </a:r>
          </a:p>
        </p:txBody>
      </p:sp>
    </p:spTree>
    <p:extLst>
      <p:ext uri="{BB962C8B-B14F-4D97-AF65-F5344CB8AC3E}">
        <p14:creationId xmlns:p14="http://schemas.microsoft.com/office/powerpoint/2010/main" val="16724225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Introduction</a:t>
            </a:r>
          </a:p>
        </p:txBody>
      </p:sp>
      <p:sp>
        <p:nvSpPr>
          <p:cNvPr id="5" name="TextBox 4">
            <a:extLst>
              <a:ext uri="{FF2B5EF4-FFF2-40B4-BE49-F238E27FC236}">
                <a16:creationId xmlns:a16="http://schemas.microsoft.com/office/drawing/2014/main" id="{A5665C65-27BE-D7D9-F439-9AFD189E7D9F}"/>
              </a:ext>
            </a:extLst>
          </p:cNvPr>
          <p:cNvSpPr txBox="1"/>
          <p:nvPr/>
        </p:nvSpPr>
        <p:spPr>
          <a:xfrm>
            <a:off x="574778" y="1122468"/>
            <a:ext cx="11272666" cy="5262979"/>
          </a:xfrm>
          <a:prstGeom prst="rect">
            <a:avLst/>
          </a:prstGeom>
          <a:noFill/>
        </p:spPr>
        <p:txBody>
          <a:bodyPr wrap="square">
            <a:spAutoFit/>
          </a:bodyPr>
          <a:lstStyle/>
          <a:p>
            <a:pPr algn="just"/>
            <a:r>
              <a:rPr lang="en-IN" sz="2800" dirty="0"/>
              <a:t>A large number of student documents can be difficult to compare manually, especially when dealing with a large collection. Students may submit documents containing copied or repeated content, making it necessary to identify similar documents efficiently. Checking every document against all other documents manually requires considerable time and effort. Our system automatically processes a collection of documents from a corpus, converts the text into lowercase, and divides it into meaningful sentence chunks. Every possible pair of documents is compared using the </a:t>
            </a:r>
            <a:r>
              <a:rPr lang="en-IN" sz="2800" b="1" dirty="0"/>
              <a:t>Z-Algorithm</a:t>
            </a:r>
            <a:r>
              <a:rPr lang="en-IN" sz="2800" dirty="0"/>
              <a:t>, and a similarity percentage is calculated for each relevant pair. The results are then sorted from highest similarity to lowest similarity, making it easier to identify documents containing significant common or duplicated content.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Literature Survey</a:t>
            </a:r>
          </a:p>
        </p:txBody>
      </p:sp>
      <p:sp>
        <p:nvSpPr>
          <p:cNvPr id="4" name="TextBox 3">
            <a:extLst>
              <a:ext uri="{FF2B5EF4-FFF2-40B4-BE49-F238E27FC236}">
                <a16:creationId xmlns:a16="http://schemas.microsoft.com/office/drawing/2014/main" id="{7DF52738-515B-A251-D715-8501902749E8}"/>
              </a:ext>
            </a:extLst>
          </p:cNvPr>
          <p:cNvSpPr txBox="1"/>
          <p:nvPr/>
        </p:nvSpPr>
        <p:spPr>
          <a:xfrm>
            <a:off x="487017" y="738909"/>
            <a:ext cx="11217966" cy="6370975"/>
          </a:xfrm>
          <a:prstGeom prst="rect">
            <a:avLst/>
          </a:prstGeom>
          <a:noFill/>
        </p:spPr>
        <p:txBody>
          <a:bodyPr wrap="square" rtlCol="0">
            <a:spAutoFit/>
          </a:bodyPr>
          <a:lstStyle/>
          <a:p>
            <a:pPr algn="just"/>
            <a:r>
              <a:rPr lang="en-IN" sz="2400" b="1" dirty="0"/>
              <a:t>1. Plagiarism Detection in the Digital Era (2024)</a:t>
            </a:r>
          </a:p>
          <a:p>
            <a:pPr algn="just"/>
            <a:r>
              <a:rPr lang="en-IN" sz="2400" dirty="0"/>
              <a:t>Reviewed modern plagiarism detection methods and emphasized the need for automated, reliable, and efficient document comparison systems.</a:t>
            </a:r>
          </a:p>
          <a:p>
            <a:pPr algn="just"/>
            <a:r>
              <a:rPr lang="en-IN" sz="2400" b="1" dirty="0"/>
              <a:t>2. T-SRE: Transformer-based Semantic Relation Extraction (2024)</a:t>
            </a:r>
          </a:p>
          <a:p>
            <a:pPr algn="just"/>
            <a:r>
              <a:rPr lang="en-IN" sz="2400" dirty="0"/>
              <a:t>Used transformer-based analysis to detect paraphrased plagiarism and semantic similarities that may be missed by traditional text matching techniques.</a:t>
            </a:r>
          </a:p>
          <a:p>
            <a:pPr algn="just"/>
            <a:r>
              <a:rPr lang="en-IN" sz="2400" b="1" dirty="0"/>
              <a:t>3. Plagiarism Detection Using Machine Learning (2024)</a:t>
            </a:r>
          </a:p>
          <a:p>
            <a:pPr algn="just"/>
            <a:r>
              <a:rPr lang="en-IN" sz="2400" dirty="0"/>
              <a:t>Explored NLP and machine-learning techniques for detecting exact and paraphrased plagiarism with improved accuracy and better scalability.</a:t>
            </a:r>
          </a:p>
          <a:p>
            <a:pPr algn="just"/>
            <a:r>
              <a:rPr lang="en-IN" sz="2400" b="1" dirty="0"/>
              <a:t>4. Comparative Analysis of Text-Based Plagiarism Detection Techniques(2025)</a:t>
            </a:r>
            <a:br>
              <a:rPr lang="en-IN" sz="2400" b="1" dirty="0"/>
            </a:br>
            <a:r>
              <a:rPr lang="en-IN" sz="2400" dirty="0"/>
              <a:t>Compared text-based plagiarism detection methods and discussed techniques for improving similarity detection.</a:t>
            </a:r>
          </a:p>
          <a:p>
            <a:pPr algn="just"/>
            <a:r>
              <a:rPr lang="en-IN" sz="2400" b="1" dirty="0"/>
              <a:t>Research Gap / Our Approach</a:t>
            </a:r>
          </a:p>
          <a:p>
            <a:pPr algn="just"/>
            <a:r>
              <a:rPr lang="en-IN" sz="2400" dirty="0"/>
              <a:t>Recent methods focus on NLP, machine learning, and semantic analysis. Our project uses the Z-Algorithm for exact text matching, compares multiple documents, and calculates and ranks similarity percentages to identify highly similar document pairs.</a:t>
            </a:r>
          </a:p>
          <a:p>
            <a:pPr algn="just"/>
            <a:endParaRPr lang="en-IN"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2660072" y="221673"/>
            <a:ext cx="6723625" cy="65579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2660072" y="292694"/>
            <a:ext cx="6871855" cy="584775"/>
          </a:xfrm>
          <a:prstGeom prst="rect">
            <a:avLst/>
          </a:prstGeom>
          <a:noFill/>
        </p:spPr>
        <p:txBody>
          <a:bodyPr wrap="square" rtlCol="0">
            <a:spAutoFit/>
          </a:bodyPr>
          <a:lstStyle/>
          <a:p>
            <a:pPr algn="ctr"/>
            <a:r>
              <a:rPr lang="en-US" sz="3200" b="1" dirty="0">
                <a:solidFill>
                  <a:schemeClr val="bg1"/>
                </a:solidFill>
              </a:rPr>
              <a:t>Problem Statement and Objectives</a:t>
            </a:r>
          </a:p>
        </p:txBody>
      </p:sp>
      <p:sp>
        <p:nvSpPr>
          <p:cNvPr id="4" name="TextBox 3">
            <a:extLst>
              <a:ext uri="{FF2B5EF4-FFF2-40B4-BE49-F238E27FC236}">
                <a16:creationId xmlns:a16="http://schemas.microsoft.com/office/drawing/2014/main" id="{58F15997-A708-1B94-5047-4995D9A4AB20}"/>
              </a:ext>
            </a:extLst>
          </p:cNvPr>
          <p:cNvSpPr txBox="1"/>
          <p:nvPr/>
        </p:nvSpPr>
        <p:spPr>
          <a:xfrm>
            <a:off x="583096" y="1099930"/>
            <a:ext cx="10906539" cy="5693866"/>
          </a:xfrm>
          <a:prstGeom prst="rect">
            <a:avLst/>
          </a:prstGeom>
          <a:noFill/>
        </p:spPr>
        <p:txBody>
          <a:bodyPr wrap="square" rtlCol="0">
            <a:spAutoFit/>
          </a:bodyPr>
          <a:lstStyle/>
          <a:p>
            <a:pPr algn="just"/>
            <a:r>
              <a:rPr lang="en-US" sz="2800" b="1" dirty="0"/>
              <a:t>PROBLEM STATEMENT:</a:t>
            </a:r>
          </a:p>
          <a:p>
            <a:pPr algn="just"/>
            <a:r>
              <a:rPr lang="en-US" sz="2800" dirty="0"/>
              <a:t>When a large number of student documents are submitted, manually comparing every document with the others is time-consuming. Some documents may contain copied or repeated content with only minor changes. Therefore, an automated system is needed to compare multiple documents, identify similar document pairs, and calculate their similarity percentage.</a:t>
            </a:r>
          </a:p>
          <a:p>
            <a:pPr algn="just"/>
            <a:r>
              <a:rPr lang="en-US" sz="2800" b="1" dirty="0"/>
              <a:t>OBJECTIVES:</a:t>
            </a:r>
          </a:p>
          <a:p>
            <a:pPr algn="just"/>
            <a:r>
              <a:rPr lang="en-US" sz="2800" dirty="0"/>
              <a:t> Process multiple documents from a corpus.- Pre-process the text and divide it into meaningful chunks.- Compare every possible pair of documents.- Use the Z-Algorithm for exact substring matching.- Calculate the similarity percentage between document pairs.- Display similar document pairs in descending order of similarity.</a:t>
            </a:r>
            <a:endParaRPr lang="en-IN" sz="2800" dirty="0"/>
          </a:p>
        </p:txBody>
      </p:sp>
    </p:spTree>
    <p:extLst>
      <p:ext uri="{BB962C8B-B14F-4D97-AF65-F5344CB8AC3E}">
        <p14:creationId xmlns:p14="http://schemas.microsoft.com/office/powerpoint/2010/main" val="34410266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dirty="0">
                <a:solidFill>
                  <a:schemeClr val="bg1"/>
                </a:solidFill>
              </a:rPr>
              <a:t>Flow Chart</a:t>
            </a:r>
          </a:p>
        </p:txBody>
      </p:sp>
      <p:pic>
        <p:nvPicPr>
          <p:cNvPr id="6" name="Picture 5">
            <a:extLst>
              <a:ext uri="{FF2B5EF4-FFF2-40B4-BE49-F238E27FC236}">
                <a16:creationId xmlns:a16="http://schemas.microsoft.com/office/drawing/2014/main" id="{F73DB46A-F678-DEE1-EDE9-15F63A07E3AC}"/>
              </a:ext>
            </a:extLst>
          </p:cNvPr>
          <p:cNvPicPr>
            <a:picLocks noChangeAspect="1"/>
          </p:cNvPicPr>
          <p:nvPr/>
        </p:nvPicPr>
        <p:blipFill>
          <a:blip r:embed="rId2"/>
          <a:stretch>
            <a:fillRect/>
          </a:stretch>
        </p:blipFill>
        <p:spPr>
          <a:xfrm>
            <a:off x="1987421" y="1020090"/>
            <a:ext cx="8351490" cy="573342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93965"/>
            <a:ext cx="6871855" cy="584775"/>
          </a:xfrm>
          <a:prstGeom prst="rect">
            <a:avLst/>
          </a:prstGeom>
          <a:noFill/>
        </p:spPr>
        <p:txBody>
          <a:bodyPr wrap="square" rtlCol="0">
            <a:spAutoFit/>
          </a:bodyPr>
          <a:lstStyle/>
          <a:p>
            <a:pPr algn="ctr"/>
            <a:r>
              <a:rPr lang="en-US" sz="3200" b="1" kern="0" dirty="0">
                <a:solidFill>
                  <a:schemeClr val="bg1"/>
                </a:solidFill>
                <a:effectLst/>
                <a:ea typeface="Times New Roman" panose="02020603050405020304" pitchFamily="18" charset="0"/>
              </a:rPr>
              <a:t>Results</a:t>
            </a:r>
            <a:endParaRPr lang="en-US" sz="3200" b="1" dirty="0">
              <a:solidFill>
                <a:schemeClr val="bg1"/>
              </a:solidFill>
            </a:endParaRPr>
          </a:p>
        </p:txBody>
      </p:sp>
      <p:sp>
        <p:nvSpPr>
          <p:cNvPr id="4" name="TextBox 3">
            <a:extLst>
              <a:ext uri="{FF2B5EF4-FFF2-40B4-BE49-F238E27FC236}">
                <a16:creationId xmlns:a16="http://schemas.microsoft.com/office/drawing/2014/main" id="{EBCEF2D9-538D-E327-23D1-84FC3EA0FED8}"/>
              </a:ext>
            </a:extLst>
          </p:cNvPr>
          <p:cNvSpPr txBox="1"/>
          <p:nvPr/>
        </p:nvSpPr>
        <p:spPr>
          <a:xfrm>
            <a:off x="609599" y="1004016"/>
            <a:ext cx="10972800" cy="5632311"/>
          </a:xfrm>
          <a:prstGeom prst="rect">
            <a:avLst/>
          </a:prstGeom>
          <a:noFill/>
        </p:spPr>
        <p:txBody>
          <a:bodyPr wrap="square" rtlCol="0">
            <a:spAutoFit/>
          </a:bodyPr>
          <a:lstStyle/>
          <a:p>
            <a:pPr algn="just"/>
            <a:r>
              <a:rPr lang="en-US" sz="2400" dirty="0"/>
              <a:t>The system produces similarity results for the documents in the corpus. For each similar document pair, the output displays:</a:t>
            </a:r>
          </a:p>
          <a:p>
            <a:pPr marL="342900" indent="-342900" algn="just">
              <a:buFont typeface="Arial" panose="020B0604020202020204" pitchFamily="34" charset="0"/>
              <a:buChar char="•"/>
            </a:pPr>
            <a:r>
              <a:rPr lang="en-US" sz="2400" dirty="0"/>
              <a:t>Pair of Documents</a:t>
            </a:r>
          </a:p>
          <a:p>
            <a:pPr marL="342900" indent="-342900" algn="just">
              <a:buFont typeface="Arial" panose="020B0604020202020204" pitchFamily="34" charset="0"/>
              <a:buChar char="•"/>
            </a:pPr>
            <a:r>
              <a:rPr lang="en-US" sz="2400" dirty="0"/>
              <a:t>Similarity Percentage</a:t>
            </a:r>
          </a:p>
          <a:p>
            <a:pPr marL="342900" indent="-342900" algn="just">
              <a:buFont typeface="Arial" panose="020B0604020202020204" pitchFamily="34" charset="0"/>
              <a:buChar char="•"/>
            </a:pPr>
            <a:r>
              <a:rPr lang="en-US" sz="2400" dirty="0"/>
              <a:t>Similarity Verdict</a:t>
            </a:r>
          </a:p>
          <a:p>
            <a:pPr algn="just"/>
            <a:r>
              <a:rPr lang="en-US" sz="2400" dirty="0"/>
              <a:t>The results are arranged from highest similarity to lowest similarity.</a:t>
            </a:r>
          </a:p>
          <a:p>
            <a:pPr algn="just"/>
            <a:r>
              <a:rPr lang="en-US" sz="2400" b="1" dirty="0"/>
              <a:t>SIMILARITY CLASSIFICATION:</a:t>
            </a:r>
          </a:p>
          <a:p>
            <a:pPr marL="342900" indent="-342900" algn="just">
              <a:buFont typeface="Arial" panose="020B0604020202020204" pitchFamily="34" charset="0"/>
              <a:buChar char="•"/>
            </a:pPr>
            <a:r>
              <a:rPr lang="en-US" sz="2400" dirty="0"/>
              <a:t>80% and above:</a:t>
            </a:r>
          </a:p>
          <a:p>
            <a:pPr algn="just"/>
            <a:r>
              <a:rPr lang="en-US" sz="2400" dirty="0"/>
              <a:t>HIGH CHANCE OF COPYING - Nearly identical</a:t>
            </a:r>
          </a:p>
          <a:p>
            <a:pPr marL="342900" indent="-342900" algn="just">
              <a:buFont typeface="Arial" panose="020B0604020202020204" pitchFamily="34" charset="0"/>
              <a:buChar char="•"/>
            </a:pPr>
            <a:r>
              <a:rPr lang="en-US" sz="2400" dirty="0"/>
              <a:t>50% - 79.99%:</a:t>
            </a:r>
          </a:p>
          <a:p>
            <a:pPr algn="just"/>
            <a:r>
              <a:rPr lang="en-US" sz="2400" dirty="0"/>
              <a:t>SUSPICIOUSLY SIMILAR - Heavy overlap</a:t>
            </a:r>
          </a:p>
          <a:p>
            <a:pPr marL="342900" indent="-342900" algn="just">
              <a:buFont typeface="Arial" panose="020B0604020202020204" pitchFamily="34" charset="0"/>
              <a:buChar char="•"/>
            </a:pPr>
            <a:r>
              <a:rPr lang="en-US" sz="2400" dirty="0"/>
              <a:t>30% - 49.99%:</a:t>
            </a:r>
          </a:p>
          <a:p>
            <a:pPr algn="just"/>
            <a:r>
              <a:rPr lang="en-US" sz="2400" dirty="0"/>
              <a:t>RELATED - Some shared content</a:t>
            </a:r>
          </a:p>
          <a:p>
            <a:pPr marL="342900" indent="-342900" algn="just">
              <a:buFont typeface="Arial" panose="020B0604020202020204" pitchFamily="34" charset="0"/>
              <a:buChar char="•"/>
            </a:pPr>
            <a:r>
              <a:rPr lang="en-US" sz="2400" dirty="0"/>
              <a:t>Below 30%:</a:t>
            </a:r>
          </a:p>
          <a:p>
            <a:pPr algn="just"/>
            <a:r>
              <a:rPr lang="en-US" sz="2400" dirty="0"/>
              <a:t>Not displayed in the similar-files results</a:t>
            </a:r>
            <a:endParaRPr lang="en-IN" dirty="0"/>
          </a:p>
        </p:txBody>
      </p:sp>
    </p:spTree>
    <p:extLst>
      <p:ext uri="{BB962C8B-B14F-4D97-AF65-F5344CB8AC3E}">
        <p14:creationId xmlns:p14="http://schemas.microsoft.com/office/powerpoint/2010/main" val="106092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654372" y="262038"/>
            <a:ext cx="6419945" cy="60395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3202462" y="298699"/>
            <a:ext cx="6871855" cy="523220"/>
          </a:xfrm>
          <a:prstGeom prst="rect">
            <a:avLst/>
          </a:prstGeom>
          <a:noFill/>
        </p:spPr>
        <p:txBody>
          <a:bodyPr wrap="square" rtlCol="0">
            <a:spAutoFit/>
          </a:bodyPr>
          <a:lstStyle/>
          <a:p>
            <a:pPr algn="ctr"/>
            <a:r>
              <a:rPr lang="en-US" sz="2800" b="1" kern="0" dirty="0">
                <a:solidFill>
                  <a:schemeClr val="bg1"/>
                </a:solidFill>
                <a:effectLst/>
                <a:ea typeface="Times New Roman" panose="02020603050405020304" pitchFamily="18" charset="0"/>
              </a:rPr>
              <a:t>Hardware and Software requirements</a:t>
            </a:r>
            <a:endParaRPr lang="en-US" sz="2800" b="1" dirty="0">
              <a:solidFill>
                <a:schemeClr val="bg1"/>
              </a:solidFill>
            </a:endParaRPr>
          </a:p>
        </p:txBody>
      </p:sp>
      <p:sp>
        <p:nvSpPr>
          <p:cNvPr id="4" name="TextBox 3">
            <a:extLst>
              <a:ext uri="{FF2B5EF4-FFF2-40B4-BE49-F238E27FC236}">
                <a16:creationId xmlns:a16="http://schemas.microsoft.com/office/drawing/2014/main" id="{C7A7933C-1DB4-7CD0-A703-BAC74A211866}"/>
              </a:ext>
            </a:extLst>
          </p:cNvPr>
          <p:cNvSpPr txBox="1"/>
          <p:nvPr/>
        </p:nvSpPr>
        <p:spPr>
          <a:xfrm>
            <a:off x="602974" y="1163042"/>
            <a:ext cx="10827026" cy="5201424"/>
          </a:xfrm>
          <a:prstGeom prst="rect">
            <a:avLst/>
          </a:prstGeom>
          <a:noFill/>
        </p:spPr>
        <p:txBody>
          <a:bodyPr wrap="square" rtlCol="0">
            <a:spAutoFit/>
          </a:bodyPr>
          <a:lstStyle/>
          <a:p>
            <a:endParaRPr lang="en-IN" sz="2000" b="1" dirty="0"/>
          </a:p>
          <a:p>
            <a:endParaRPr lang="en-IN" sz="2000" b="1" dirty="0"/>
          </a:p>
          <a:p>
            <a:endParaRPr lang="en-IN" sz="2000" b="1" dirty="0"/>
          </a:p>
          <a:p>
            <a:endParaRPr lang="en-IN" sz="2000" b="1" dirty="0"/>
          </a:p>
          <a:p>
            <a:endParaRPr lang="en-IN" sz="2000" b="1" dirty="0"/>
          </a:p>
          <a:p>
            <a:endParaRPr lang="en-IN" sz="2000" b="1" dirty="0"/>
          </a:p>
          <a:p>
            <a:endParaRPr lang="en-IN" sz="2000" b="1" dirty="0"/>
          </a:p>
          <a:p>
            <a:pPr algn="just"/>
            <a:r>
              <a:rPr lang="en-IN" sz="2400" b="1" dirty="0"/>
              <a:t>TECHNOLOGIES USED:</a:t>
            </a:r>
          </a:p>
          <a:p>
            <a:pPr algn="just"/>
            <a:r>
              <a:rPr lang="en-IN" sz="2400" b="1" dirty="0"/>
              <a:t>1. Z-Algorithm: </a:t>
            </a:r>
            <a:r>
              <a:rPr lang="en-IN" sz="2400" dirty="0"/>
              <a:t>Used for exact substring matching.</a:t>
            </a:r>
          </a:p>
          <a:p>
            <a:pPr algn="just"/>
            <a:r>
              <a:rPr lang="en-IN" sz="2400" b="1" dirty="0"/>
              <a:t>2. Text Pre-processing: </a:t>
            </a:r>
            <a:r>
              <a:rPr lang="en-IN" sz="2400" dirty="0"/>
              <a:t>Converts document text to lowercase and divides it into meaningful sentence chunks.</a:t>
            </a:r>
          </a:p>
          <a:p>
            <a:pPr algn="just"/>
            <a:r>
              <a:rPr lang="en-IN" sz="2400" b="1" dirty="0"/>
              <a:t>3. File Handling: </a:t>
            </a:r>
            <a:r>
              <a:rPr lang="en-IN" sz="2400" dirty="0"/>
              <a:t>Reads .txt files from the corpus folder.</a:t>
            </a:r>
          </a:p>
          <a:p>
            <a:pPr algn="just"/>
            <a:r>
              <a:rPr lang="en-IN" sz="2400" b="1" dirty="0"/>
              <a:t>4. Document Pair Comparison: </a:t>
            </a:r>
            <a:r>
              <a:rPr lang="en-IN" sz="2400" dirty="0"/>
              <a:t>Compares every possible pair of documents.</a:t>
            </a:r>
          </a:p>
          <a:p>
            <a:pPr algn="just"/>
            <a:r>
              <a:rPr lang="en-IN" sz="2400" b="1" dirty="0"/>
              <a:t>5. Similarity Calculation: </a:t>
            </a:r>
            <a:r>
              <a:rPr lang="en-IN" sz="2400" dirty="0"/>
              <a:t>Calculates the percentage of matched chunks.</a:t>
            </a:r>
          </a:p>
          <a:p>
            <a:pPr algn="just"/>
            <a:r>
              <a:rPr lang="en-IN" sz="2400" b="1" dirty="0"/>
              <a:t>6. Result Sorting: </a:t>
            </a:r>
            <a:r>
              <a:rPr lang="en-IN" sz="2400" dirty="0"/>
              <a:t>Arranges similar document pairs from highest to lowest similarity.</a:t>
            </a:r>
            <a:endParaRPr lang="en-IN" sz="2000" dirty="0"/>
          </a:p>
        </p:txBody>
      </p:sp>
      <p:graphicFrame>
        <p:nvGraphicFramePr>
          <p:cNvPr id="5" name="Table 4">
            <a:extLst>
              <a:ext uri="{FF2B5EF4-FFF2-40B4-BE49-F238E27FC236}">
                <a16:creationId xmlns:a16="http://schemas.microsoft.com/office/drawing/2014/main" id="{30521B22-DE25-9608-8E78-2DE7EFB9C160}"/>
              </a:ext>
            </a:extLst>
          </p:cNvPr>
          <p:cNvGraphicFramePr>
            <a:graphicFrameLocks noGrp="1"/>
          </p:cNvGraphicFramePr>
          <p:nvPr>
            <p:extLst>
              <p:ext uri="{D42A27DB-BD31-4B8C-83A1-F6EECF244321}">
                <p14:modId xmlns:p14="http://schemas.microsoft.com/office/powerpoint/2010/main" val="3507225970"/>
              </p:ext>
            </p:extLst>
          </p:nvPr>
        </p:nvGraphicFramePr>
        <p:xfrm>
          <a:off x="762000" y="1004016"/>
          <a:ext cx="10668000" cy="1981200"/>
        </p:xfrm>
        <a:graphic>
          <a:graphicData uri="http://schemas.openxmlformats.org/drawingml/2006/table">
            <a:tbl>
              <a:tblPr firstRow="1" bandRow="1">
                <a:tableStyleId>{5C22544A-7EE6-4342-B048-85BDC9FD1C3A}</a:tableStyleId>
              </a:tblPr>
              <a:tblGrid>
                <a:gridCol w="5320305">
                  <a:extLst>
                    <a:ext uri="{9D8B030D-6E8A-4147-A177-3AD203B41FA5}">
                      <a16:colId xmlns:a16="http://schemas.microsoft.com/office/drawing/2014/main" val="3055590604"/>
                    </a:ext>
                  </a:extLst>
                </a:gridCol>
                <a:gridCol w="5347695">
                  <a:extLst>
                    <a:ext uri="{9D8B030D-6E8A-4147-A177-3AD203B41FA5}">
                      <a16:colId xmlns:a16="http://schemas.microsoft.com/office/drawing/2014/main" val="1735792839"/>
                    </a:ext>
                  </a:extLst>
                </a:gridCol>
              </a:tblGrid>
              <a:tr h="370840">
                <a:tc>
                  <a:txBody>
                    <a:bodyPr/>
                    <a:lstStyle/>
                    <a:p>
                      <a:pPr algn="ctr"/>
                      <a:r>
                        <a:rPr lang="en-IN" sz="2000" dirty="0"/>
                        <a:t>HARDWARE REQUIREMENTS</a:t>
                      </a:r>
                    </a:p>
                  </a:txBody>
                  <a:tcPr/>
                </a:tc>
                <a:tc>
                  <a:txBody>
                    <a:bodyPr/>
                    <a:lstStyle/>
                    <a:p>
                      <a:pPr algn="ctr"/>
                      <a:r>
                        <a:rPr lang="en-IN" sz="2000" dirty="0"/>
                        <a:t>SOFTWARE REQUIREMENTS</a:t>
                      </a:r>
                    </a:p>
                  </a:txBody>
                  <a:tcPr/>
                </a:tc>
                <a:extLst>
                  <a:ext uri="{0D108BD9-81ED-4DB2-BD59-A6C34878D82A}">
                    <a16:rowId xmlns:a16="http://schemas.microsoft.com/office/drawing/2014/main" val="2746779975"/>
                  </a:ext>
                </a:extLst>
              </a:tr>
              <a:tr h="370840">
                <a:tc>
                  <a:txBody>
                    <a:bodyPr/>
                    <a:lstStyle/>
                    <a:p>
                      <a:pPr algn="l"/>
                      <a:r>
                        <a:rPr lang="en-IN" sz="2000" dirty="0"/>
                        <a:t>Computer / Laptop</a:t>
                      </a:r>
                    </a:p>
                  </a:txBody>
                  <a:tcPr/>
                </a:tc>
                <a:tc>
                  <a:txBody>
                    <a:bodyPr/>
                    <a:lstStyle/>
                    <a:p>
                      <a:pPr algn="l"/>
                      <a:r>
                        <a:rPr lang="en-IN" sz="2000" dirty="0"/>
                        <a:t>Operating System: Windows / Linux</a:t>
                      </a:r>
                    </a:p>
                  </a:txBody>
                  <a:tcPr>
                    <a:solidFill>
                      <a:srgbClr val="CFD5EA"/>
                    </a:solidFill>
                  </a:tcPr>
                </a:tc>
                <a:extLst>
                  <a:ext uri="{0D108BD9-81ED-4DB2-BD59-A6C34878D82A}">
                    <a16:rowId xmlns:a16="http://schemas.microsoft.com/office/drawing/2014/main" val="817795871"/>
                  </a:ext>
                </a:extLst>
              </a:tr>
              <a:tr h="370840">
                <a:tc>
                  <a:txBody>
                    <a:bodyPr/>
                    <a:lstStyle/>
                    <a:p>
                      <a:pPr algn="l"/>
                      <a:r>
                        <a:rPr lang="en-IN" sz="2000" dirty="0"/>
                        <a:t>Minimum 4 GB RAM</a:t>
                      </a:r>
                    </a:p>
                  </a:txBody>
                  <a:tcPr/>
                </a:tc>
                <a:tc>
                  <a:txBody>
                    <a:bodyPr/>
                    <a:lstStyle/>
                    <a:p>
                      <a:pPr algn="l"/>
                      <a:r>
                        <a:rPr lang="en-IN" sz="2000" dirty="0"/>
                        <a:t>Programming Language: Java</a:t>
                      </a:r>
                    </a:p>
                  </a:txBody>
                  <a:tcPr/>
                </a:tc>
                <a:extLst>
                  <a:ext uri="{0D108BD9-81ED-4DB2-BD59-A6C34878D82A}">
                    <a16:rowId xmlns:a16="http://schemas.microsoft.com/office/drawing/2014/main" val="4013244420"/>
                  </a:ext>
                </a:extLst>
              </a:tr>
              <a:tr h="370840">
                <a:tc>
                  <a:txBody>
                    <a:bodyPr/>
                    <a:lstStyle/>
                    <a:p>
                      <a:pPr algn="l"/>
                      <a:r>
                        <a:rPr lang="en-IN" sz="2000" dirty="0"/>
                        <a:t>Keyboard and Mouse</a:t>
                      </a:r>
                    </a:p>
                  </a:txBody>
                  <a:tcPr/>
                </a:tc>
                <a:tc>
                  <a:txBody>
                    <a:bodyPr/>
                    <a:lstStyle/>
                    <a:p>
                      <a:pPr algn="l"/>
                      <a:r>
                        <a:rPr lang="en-IN" sz="2000" dirty="0"/>
                        <a:t>Java I/O and NIO File Handling</a:t>
                      </a:r>
                    </a:p>
                  </a:txBody>
                  <a:tcPr/>
                </a:tc>
                <a:extLst>
                  <a:ext uri="{0D108BD9-81ED-4DB2-BD59-A6C34878D82A}">
                    <a16:rowId xmlns:a16="http://schemas.microsoft.com/office/drawing/2014/main" val="425167561"/>
                  </a:ext>
                </a:extLst>
              </a:tr>
              <a:tr h="370840">
                <a:tc>
                  <a:txBody>
                    <a:bodyPr/>
                    <a:lstStyle/>
                    <a:p>
                      <a:pPr algn="l"/>
                      <a:r>
                        <a:rPr lang="en-IN" sz="2000" dirty="0"/>
                        <a:t>Storage for Document Corpus</a:t>
                      </a:r>
                    </a:p>
                  </a:txBody>
                  <a:tcPr/>
                </a:tc>
                <a:tc>
                  <a:txBody>
                    <a:bodyPr/>
                    <a:lstStyle/>
                    <a:p>
                      <a:pPr algn="l"/>
                      <a:r>
                        <a:rPr lang="en-IN" sz="2000" dirty="0"/>
                        <a:t>Code Editor / IDE</a:t>
                      </a:r>
                    </a:p>
                  </a:txBody>
                  <a:tcPr/>
                </a:tc>
                <a:extLst>
                  <a:ext uri="{0D108BD9-81ED-4DB2-BD59-A6C34878D82A}">
                    <a16:rowId xmlns:a16="http://schemas.microsoft.com/office/drawing/2014/main" val="1863814898"/>
                  </a:ext>
                </a:extLst>
              </a:tr>
            </a:tbl>
          </a:graphicData>
        </a:graphic>
      </p:graphicFrame>
    </p:spTree>
    <p:extLst>
      <p:ext uri="{BB962C8B-B14F-4D97-AF65-F5344CB8AC3E}">
        <p14:creationId xmlns:p14="http://schemas.microsoft.com/office/powerpoint/2010/main" val="22927509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p:cNvSpPr txBox="1"/>
          <p:nvPr/>
        </p:nvSpPr>
        <p:spPr>
          <a:xfrm>
            <a:off x="2660072" y="187903"/>
            <a:ext cx="6871855" cy="584775"/>
          </a:xfrm>
          <a:prstGeom prst="rect">
            <a:avLst/>
          </a:prstGeom>
          <a:noFill/>
        </p:spPr>
        <p:txBody>
          <a:bodyPr wrap="square" rtlCol="0">
            <a:spAutoFit/>
          </a:bodyPr>
          <a:lstStyle/>
          <a:p>
            <a:pPr algn="ctr"/>
            <a:r>
              <a:rPr lang="en-US" sz="3200" b="1" dirty="0">
                <a:solidFill>
                  <a:schemeClr val="bg1"/>
                </a:solidFill>
              </a:rPr>
              <a:t>Conclusion</a:t>
            </a:r>
          </a:p>
        </p:txBody>
      </p:sp>
      <p:sp>
        <p:nvSpPr>
          <p:cNvPr id="4" name="TextBox 3">
            <a:extLst>
              <a:ext uri="{FF2B5EF4-FFF2-40B4-BE49-F238E27FC236}">
                <a16:creationId xmlns:a16="http://schemas.microsoft.com/office/drawing/2014/main" id="{A20D34CC-F74B-4FFE-E3B1-699B7F12767E}"/>
              </a:ext>
            </a:extLst>
          </p:cNvPr>
          <p:cNvSpPr txBox="1"/>
          <p:nvPr/>
        </p:nvSpPr>
        <p:spPr>
          <a:xfrm>
            <a:off x="921025" y="1536174"/>
            <a:ext cx="10349948" cy="3785652"/>
          </a:xfrm>
          <a:prstGeom prst="rect">
            <a:avLst/>
          </a:prstGeom>
          <a:noFill/>
        </p:spPr>
        <p:txBody>
          <a:bodyPr wrap="square" rtlCol="0">
            <a:spAutoFit/>
          </a:bodyPr>
          <a:lstStyle/>
          <a:p>
            <a:pPr marL="342900" indent="-342900" algn="just">
              <a:buFont typeface="Arial" panose="020B0604020202020204" pitchFamily="34" charset="0"/>
              <a:buChar char="•"/>
            </a:pPr>
            <a:r>
              <a:rPr lang="en-US" sz="2400" dirty="0"/>
              <a:t>The project provides an automated approach for analyzing similarity between multiple documents.</a:t>
            </a:r>
          </a:p>
          <a:p>
            <a:pPr marL="342900" indent="-342900" algn="just">
              <a:buFont typeface="Arial" panose="020B0604020202020204" pitchFamily="34" charset="0"/>
              <a:buChar char="•"/>
            </a:pPr>
            <a:r>
              <a:rPr lang="en-US" sz="2400" dirty="0"/>
              <a:t>Documents are pre-processed before comparison.</a:t>
            </a:r>
          </a:p>
          <a:p>
            <a:pPr marL="342900" indent="-342900" algn="just">
              <a:buFont typeface="Arial" panose="020B0604020202020204" pitchFamily="34" charset="0"/>
              <a:buChar char="•"/>
            </a:pPr>
            <a:r>
              <a:rPr lang="en-US" sz="2400" dirty="0"/>
              <a:t>Every possible pair of documents is compared.</a:t>
            </a:r>
          </a:p>
          <a:p>
            <a:pPr marL="342900" indent="-342900" algn="just">
              <a:buFont typeface="Arial" panose="020B0604020202020204" pitchFamily="34" charset="0"/>
              <a:buChar char="•"/>
            </a:pPr>
            <a:r>
              <a:rPr lang="en-US" sz="2400" dirty="0"/>
              <a:t>The Z-Algorithm is used for exact substring matching.</a:t>
            </a:r>
          </a:p>
          <a:p>
            <a:pPr marL="342900" indent="-342900" algn="just">
              <a:buFont typeface="Arial" panose="020B0604020202020204" pitchFamily="34" charset="0"/>
              <a:buChar char="•"/>
            </a:pPr>
            <a:r>
              <a:rPr lang="en-US" sz="2400" dirty="0"/>
              <a:t>A similarity percentage is calculated for each document pair.</a:t>
            </a:r>
          </a:p>
          <a:p>
            <a:pPr marL="342900" indent="-342900" algn="just">
              <a:buFont typeface="Arial" panose="020B0604020202020204" pitchFamily="34" charset="0"/>
              <a:buChar char="•"/>
            </a:pPr>
            <a:r>
              <a:rPr lang="en-US" sz="2400" dirty="0"/>
              <a:t>Similar document pairs are filtered using a minimum similarity threshold</a:t>
            </a:r>
          </a:p>
          <a:p>
            <a:pPr marL="342900" indent="-342900" algn="just">
              <a:buFont typeface="Arial" panose="020B0604020202020204" pitchFamily="34" charset="0"/>
              <a:buChar char="•"/>
            </a:pPr>
            <a:r>
              <a:rPr lang="en-US" sz="2400" dirty="0"/>
              <a:t>The results are sorted and displayed from highest to lowest similarity.</a:t>
            </a:r>
          </a:p>
          <a:p>
            <a:pPr marL="342900" indent="-342900" algn="just">
              <a:buFont typeface="Arial" panose="020B0604020202020204" pitchFamily="34" charset="0"/>
              <a:buChar char="•"/>
            </a:pPr>
            <a:r>
              <a:rPr lang="en-US" sz="2400" dirty="0"/>
              <a:t>The system reduces the effort required for manually checking large numbers of documents.</a:t>
            </a:r>
            <a:endParaRPr lang="en-IN"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9" y="221673"/>
            <a:ext cx="4719782" cy="517236"/>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2660072" y="154134"/>
            <a:ext cx="6871855" cy="584775"/>
          </a:xfrm>
          <a:prstGeom prst="rect">
            <a:avLst/>
          </a:prstGeom>
          <a:noFill/>
        </p:spPr>
        <p:txBody>
          <a:bodyPr wrap="square" rtlCol="0">
            <a:spAutoFit/>
          </a:bodyPr>
          <a:lstStyle/>
          <a:p>
            <a:pPr algn="ctr"/>
            <a:r>
              <a:rPr lang="en-US" sz="3200" b="1" dirty="0">
                <a:solidFill>
                  <a:schemeClr val="bg1"/>
                </a:solidFill>
              </a:rPr>
              <a:t> Future Scope</a:t>
            </a:r>
          </a:p>
        </p:txBody>
      </p:sp>
      <p:graphicFrame>
        <p:nvGraphicFramePr>
          <p:cNvPr id="5" name="Table 4">
            <a:extLst>
              <a:ext uri="{FF2B5EF4-FFF2-40B4-BE49-F238E27FC236}">
                <a16:creationId xmlns:a16="http://schemas.microsoft.com/office/drawing/2014/main" id="{FDDD3563-D1A5-24BD-3973-B501E10CDAB5}"/>
              </a:ext>
            </a:extLst>
          </p:cNvPr>
          <p:cNvGraphicFramePr>
            <a:graphicFrameLocks noGrp="1"/>
          </p:cNvGraphicFramePr>
          <p:nvPr>
            <p:extLst>
              <p:ext uri="{D42A27DB-BD31-4B8C-83A1-F6EECF244321}">
                <p14:modId xmlns:p14="http://schemas.microsoft.com/office/powerpoint/2010/main" val="15887222"/>
              </p:ext>
            </p:extLst>
          </p:nvPr>
        </p:nvGraphicFramePr>
        <p:xfrm>
          <a:off x="1537252" y="1066797"/>
          <a:ext cx="9105024" cy="5569530"/>
        </p:xfrm>
        <a:graphic>
          <a:graphicData uri="http://schemas.openxmlformats.org/drawingml/2006/table">
            <a:tbl>
              <a:tblPr>
                <a:tableStyleId>{5C22544A-7EE6-4342-B048-85BDC9FD1C3A}</a:tableStyleId>
              </a:tblPr>
              <a:tblGrid>
                <a:gridCol w="654541">
                  <a:extLst>
                    <a:ext uri="{9D8B030D-6E8A-4147-A177-3AD203B41FA5}">
                      <a16:colId xmlns:a16="http://schemas.microsoft.com/office/drawing/2014/main" val="1935588333"/>
                    </a:ext>
                  </a:extLst>
                </a:gridCol>
                <a:gridCol w="3684104">
                  <a:extLst>
                    <a:ext uri="{9D8B030D-6E8A-4147-A177-3AD203B41FA5}">
                      <a16:colId xmlns:a16="http://schemas.microsoft.com/office/drawing/2014/main" val="1977149986"/>
                    </a:ext>
                  </a:extLst>
                </a:gridCol>
                <a:gridCol w="4766379">
                  <a:extLst>
                    <a:ext uri="{9D8B030D-6E8A-4147-A177-3AD203B41FA5}">
                      <a16:colId xmlns:a16="http://schemas.microsoft.com/office/drawing/2014/main" val="912323681"/>
                    </a:ext>
                  </a:extLst>
                </a:gridCol>
              </a:tblGrid>
              <a:tr h="339352">
                <a:tc>
                  <a:txBody>
                    <a:bodyPr/>
                    <a:lstStyle/>
                    <a:p>
                      <a:pPr algn="ctr">
                        <a:buNone/>
                      </a:pPr>
                      <a:r>
                        <a:rPr lang="en-IN" sz="2000" b="1" dirty="0">
                          <a:solidFill>
                            <a:schemeClr val="bg1"/>
                          </a:solidFill>
                        </a:rPr>
                        <a:t>No.</a:t>
                      </a:r>
                    </a:p>
                  </a:txBody>
                  <a:tcPr marL="72522" marR="72522" marT="36261" marB="36261" anchor="ctr">
                    <a:solidFill>
                      <a:schemeClr val="accent1"/>
                    </a:solidFill>
                  </a:tcPr>
                </a:tc>
                <a:tc>
                  <a:txBody>
                    <a:bodyPr/>
                    <a:lstStyle/>
                    <a:p>
                      <a:pPr algn="ctr">
                        <a:buNone/>
                      </a:pPr>
                      <a:r>
                        <a:rPr lang="en-IN" sz="2000" b="1" dirty="0">
                          <a:solidFill>
                            <a:schemeClr val="bg1"/>
                          </a:solidFill>
                        </a:rPr>
                        <a:t>Future Enhancement</a:t>
                      </a:r>
                    </a:p>
                  </a:txBody>
                  <a:tcPr marL="72522" marR="72522" marT="36261" marB="36261" anchor="ctr">
                    <a:solidFill>
                      <a:schemeClr val="accent1"/>
                    </a:solidFill>
                  </a:tcPr>
                </a:tc>
                <a:tc>
                  <a:txBody>
                    <a:bodyPr/>
                    <a:lstStyle/>
                    <a:p>
                      <a:pPr algn="ctr">
                        <a:buNone/>
                      </a:pPr>
                      <a:r>
                        <a:rPr lang="en-IN" sz="2000" b="1" dirty="0">
                          <a:solidFill>
                            <a:schemeClr val="bg1"/>
                          </a:solidFill>
                        </a:rPr>
                        <a:t>Description</a:t>
                      </a:r>
                    </a:p>
                  </a:txBody>
                  <a:tcPr marL="72522" marR="72522" marT="36261" marB="36261" anchor="ctr">
                    <a:solidFill>
                      <a:schemeClr val="accent1"/>
                    </a:solidFill>
                  </a:tcPr>
                </a:tc>
                <a:extLst>
                  <a:ext uri="{0D108BD9-81ED-4DB2-BD59-A6C34878D82A}">
                    <a16:rowId xmlns:a16="http://schemas.microsoft.com/office/drawing/2014/main" val="1954459328"/>
                  </a:ext>
                </a:extLst>
              </a:tr>
              <a:tr h="593866">
                <a:tc>
                  <a:txBody>
                    <a:bodyPr/>
                    <a:lstStyle/>
                    <a:p>
                      <a:pPr algn="ctr">
                        <a:buNone/>
                      </a:pPr>
                      <a:r>
                        <a:rPr lang="en-IN" sz="2000" b="1" dirty="0"/>
                        <a:t>1</a:t>
                      </a:r>
                    </a:p>
                  </a:txBody>
                  <a:tcPr marL="72522" marR="72522" marT="36261" marB="36261" anchor="ctr">
                    <a:solidFill>
                      <a:srgbClr val="CFD5EA"/>
                    </a:solidFill>
                  </a:tcPr>
                </a:tc>
                <a:tc>
                  <a:txBody>
                    <a:bodyPr/>
                    <a:lstStyle/>
                    <a:p>
                      <a:pPr>
                        <a:buNone/>
                      </a:pPr>
                      <a:r>
                        <a:rPr lang="en-IN" sz="2000" dirty="0"/>
                        <a:t>PDF &amp; DOCX Support</a:t>
                      </a:r>
                    </a:p>
                  </a:txBody>
                  <a:tcPr marL="72522" marR="72522" marT="36261" marB="36261" anchor="ctr">
                    <a:solidFill>
                      <a:srgbClr val="CFD5EA"/>
                    </a:solidFill>
                  </a:tcPr>
                </a:tc>
                <a:tc>
                  <a:txBody>
                    <a:bodyPr/>
                    <a:lstStyle/>
                    <a:p>
                      <a:pPr>
                        <a:buNone/>
                      </a:pPr>
                      <a:r>
                        <a:rPr lang="en-IN" sz="2000" dirty="0"/>
                        <a:t>Support PDF and DOCX files directly.</a:t>
                      </a:r>
                    </a:p>
                  </a:txBody>
                  <a:tcPr marL="72522" marR="72522" marT="36261" marB="36261" anchor="ctr">
                    <a:solidFill>
                      <a:srgbClr val="CFD5EA"/>
                    </a:solidFill>
                  </a:tcPr>
                </a:tc>
                <a:extLst>
                  <a:ext uri="{0D108BD9-81ED-4DB2-BD59-A6C34878D82A}">
                    <a16:rowId xmlns:a16="http://schemas.microsoft.com/office/drawing/2014/main" val="4114482477"/>
                  </a:ext>
                </a:extLst>
              </a:tr>
              <a:tr h="593866">
                <a:tc>
                  <a:txBody>
                    <a:bodyPr/>
                    <a:lstStyle/>
                    <a:p>
                      <a:pPr algn="ctr">
                        <a:buNone/>
                      </a:pPr>
                      <a:r>
                        <a:rPr lang="en-IN" sz="2000" b="1" dirty="0"/>
                        <a:t>2</a:t>
                      </a:r>
                    </a:p>
                  </a:txBody>
                  <a:tcPr marL="72522" marR="72522" marT="36261" marB="36261" anchor="ctr">
                    <a:solidFill>
                      <a:srgbClr val="E9EBF5"/>
                    </a:solidFill>
                  </a:tcPr>
                </a:tc>
                <a:tc>
                  <a:txBody>
                    <a:bodyPr/>
                    <a:lstStyle/>
                    <a:p>
                      <a:pPr>
                        <a:buNone/>
                      </a:pPr>
                      <a:r>
                        <a:rPr lang="en-IN" sz="2000" dirty="0"/>
                        <a:t>Large-Scale Comparison</a:t>
                      </a:r>
                    </a:p>
                  </a:txBody>
                  <a:tcPr marL="72522" marR="72522" marT="36261" marB="36261" anchor="ctr">
                    <a:solidFill>
                      <a:srgbClr val="E9EBF5"/>
                    </a:solidFill>
                  </a:tcPr>
                </a:tc>
                <a:tc>
                  <a:txBody>
                    <a:bodyPr/>
                    <a:lstStyle/>
                    <a:p>
                      <a:pPr>
                        <a:buNone/>
                      </a:pPr>
                      <a:r>
                        <a:rPr lang="en-IN" sz="2000" dirty="0"/>
                        <a:t>Compare a larger number of documents efficiently.</a:t>
                      </a:r>
                    </a:p>
                  </a:txBody>
                  <a:tcPr marL="72522" marR="72522" marT="36261" marB="36261" anchor="ctr">
                    <a:solidFill>
                      <a:srgbClr val="E9EBF5"/>
                    </a:solidFill>
                  </a:tcPr>
                </a:tc>
                <a:extLst>
                  <a:ext uri="{0D108BD9-81ED-4DB2-BD59-A6C34878D82A}">
                    <a16:rowId xmlns:a16="http://schemas.microsoft.com/office/drawing/2014/main" val="3703555202"/>
                  </a:ext>
                </a:extLst>
              </a:tr>
              <a:tr h="593866">
                <a:tc>
                  <a:txBody>
                    <a:bodyPr/>
                    <a:lstStyle/>
                    <a:p>
                      <a:pPr algn="ctr">
                        <a:buNone/>
                      </a:pPr>
                      <a:r>
                        <a:rPr lang="en-IN" sz="2000" b="1" dirty="0"/>
                        <a:t>3</a:t>
                      </a:r>
                    </a:p>
                  </a:txBody>
                  <a:tcPr marL="72522" marR="72522" marT="36261" marB="36261" anchor="ctr">
                    <a:solidFill>
                      <a:srgbClr val="CFD5EA"/>
                    </a:solidFill>
                  </a:tcPr>
                </a:tc>
                <a:tc>
                  <a:txBody>
                    <a:bodyPr/>
                    <a:lstStyle/>
                    <a:p>
                      <a:pPr>
                        <a:buNone/>
                      </a:pPr>
                      <a:r>
                        <a:rPr lang="en-IN" sz="2000" dirty="0"/>
                        <a:t>Graphical User Interface</a:t>
                      </a:r>
                    </a:p>
                  </a:txBody>
                  <a:tcPr marL="72522" marR="72522" marT="36261" marB="36261" anchor="ctr">
                    <a:solidFill>
                      <a:srgbClr val="CFD5EA"/>
                    </a:solidFill>
                  </a:tcPr>
                </a:tc>
                <a:tc>
                  <a:txBody>
                    <a:bodyPr/>
                    <a:lstStyle/>
                    <a:p>
                      <a:pPr>
                        <a:buNone/>
                      </a:pPr>
                      <a:r>
                        <a:rPr lang="en-IN" sz="2000" dirty="0"/>
                        <a:t>Add a user-friendly GUI for easier interaction.</a:t>
                      </a:r>
                    </a:p>
                  </a:txBody>
                  <a:tcPr marL="72522" marR="72522" marT="36261" marB="36261" anchor="ctr">
                    <a:solidFill>
                      <a:srgbClr val="CFD5EA"/>
                    </a:solidFill>
                  </a:tcPr>
                </a:tc>
                <a:extLst>
                  <a:ext uri="{0D108BD9-81ED-4DB2-BD59-A6C34878D82A}">
                    <a16:rowId xmlns:a16="http://schemas.microsoft.com/office/drawing/2014/main" val="1466104224"/>
                  </a:ext>
                </a:extLst>
              </a:tr>
              <a:tr h="593866">
                <a:tc>
                  <a:txBody>
                    <a:bodyPr/>
                    <a:lstStyle/>
                    <a:p>
                      <a:pPr algn="ctr">
                        <a:buNone/>
                      </a:pPr>
                      <a:r>
                        <a:rPr lang="en-IN" sz="2000" b="1" dirty="0"/>
                        <a:t>4</a:t>
                      </a:r>
                    </a:p>
                  </a:txBody>
                  <a:tcPr marL="72522" marR="72522" marT="36261" marB="36261" anchor="ctr">
                    <a:solidFill>
                      <a:srgbClr val="E9EBF5"/>
                    </a:solidFill>
                  </a:tcPr>
                </a:tc>
                <a:tc>
                  <a:txBody>
                    <a:bodyPr/>
                    <a:lstStyle/>
                    <a:p>
                      <a:pPr>
                        <a:buNone/>
                      </a:pPr>
                      <a:r>
                        <a:rPr lang="en-IN" sz="2000" dirty="0"/>
                        <a:t>Match Highlighting</a:t>
                      </a:r>
                    </a:p>
                  </a:txBody>
                  <a:tcPr marL="72522" marR="72522" marT="36261" marB="36261" anchor="ctr">
                    <a:solidFill>
                      <a:srgbClr val="E9EBF5"/>
                    </a:solidFill>
                  </a:tcPr>
                </a:tc>
                <a:tc>
                  <a:txBody>
                    <a:bodyPr/>
                    <a:lstStyle/>
                    <a:p>
                      <a:pPr>
                        <a:buNone/>
                      </a:pPr>
                      <a:r>
                        <a:rPr lang="en-IN" sz="2000" dirty="0"/>
                        <a:t>Highlight exact matching portions of documents.</a:t>
                      </a:r>
                    </a:p>
                  </a:txBody>
                  <a:tcPr marL="72522" marR="72522" marT="36261" marB="36261" anchor="ctr">
                    <a:solidFill>
                      <a:srgbClr val="E9EBF5"/>
                    </a:solidFill>
                  </a:tcPr>
                </a:tc>
                <a:extLst>
                  <a:ext uri="{0D108BD9-81ED-4DB2-BD59-A6C34878D82A}">
                    <a16:rowId xmlns:a16="http://schemas.microsoft.com/office/drawing/2014/main" val="2991908402"/>
                  </a:ext>
                </a:extLst>
              </a:tr>
              <a:tr h="593866">
                <a:tc>
                  <a:txBody>
                    <a:bodyPr/>
                    <a:lstStyle/>
                    <a:p>
                      <a:pPr algn="ctr">
                        <a:buNone/>
                      </a:pPr>
                      <a:r>
                        <a:rPr lang="en-IN" sz="2000" b="1" dirty="0"/>
                        <a:t>5</a:t>
                      </a:r>
                    </a:p>
                  </a:txBody>
                  <a:tcPr marL="72522" marR="72522" marT="36261" marB="36261" anchor="ctr">
                    <a:solidFill>
                      <a:srgbClr val="CFD5EA"/>
                    </a:solidFill>
                  </a:tcPr>
                </a:tc>
                <a:tc>
                  <a:txBody>
                    <a:bodyPr/>
                    <a:lstStyle/>
                    <a:p>
                      <a:pPr>
                        <a:buNone/>
                      </a:pPr>
                      <a:r>
                        <a:rPr lang="en-IN" sz="2000" dirty="0"/>
                        <a:t>Similarity Reports</a:t>
                      </a:r>
                    </a:p>
                  </a:txBody>
                  <a:tcPr marL="72522" marR="72522" marT="36261" marB="36261" anchor="ctr">
                    <a:solidFill>
                      <a:srgbClr val="CFD5EA"/>
                    </a:solidFill>
                  </a:tcPr>
                </a:tc>
                <a:tc>
                  <a:txBody>
                    <a:bodyPr/>
                    <a:lstStyle/>
                    <a:p>
                      <a:pPr>
                        <a:buNone/>
                      </a:pPr>
                      <a:r>
                        <a:rPr lang="en-IN" sz="2000" dirty="0"/>
                        <a:t>Generate detailed similarity reports.</a:t>
                      </a:r>
                    </a:p>
                  </a:txBody>
                  <a:tcPr marL="72522" marR="72522" marT="36261" marB="36261" anchor="ctr">
                    <a:solidFill>
                      <a:srgbClr val="CFD5EA"/>
                    </a:solidFill>
                  </a:tcPr>
                </a:tc>
                <a:extLst>
                  <a:ext uri="{0D108BD9-81ED-4DB2-BD59-A6C34878D82A}">
                    <a16:rowId xmlns:a16="http://schemas.microsoft.com/office/drawing/2014/main" val="3337615639"/>
                  </a:ext>
                </a:extLst>
              </a:tr>
              <a:tr h="593866">
                <a:tc>
                  <a:txBody>
                    <a:bodyPr/>
                    <a:lstStyle/>
                    <a:p>
                      <a:pPr algn="ctr">
                        <a:buNone/>
                      </a:pPr>
                      <a:r>
                        <a:rPr lang="en-IN" sz="2000" b="1" dirty="0"/>
                        <a:t>6</a:t>
                      </a:r>
                    </a:p>
                  </a:txBody>
                  <a:tcPr marL="72522" marR="72522" marT="36261" marB="36261" anchor="ctr">
                    <a:solidFill>
                      <a:srgbClr val="E9EBF5"/>
                    </a:solidFill>
                  </a:tcPr>
                </a:tc>
                <a:tc>
                  <a:txBody>
                    <a:bodyPr/>
                    <a:lstStyle/>
                    <a:p>
                      <a:pPr>
                        <a:buNone/>
                      </a:pPr>
                      <a:r>
                        <a:rPr lang="en-IN" sz="2000"/>
                        <a:t>Paraphrase Detection</a:t>
                      </a:r>
                    </a:p>
                  </a:txBody>
                  <a:tcPr marL="72522" marR="72522" marT="36261" marB="36261" anchor="ctr">
                    <a:solidFill>
                      <a:srgbClr val="E9EBF5"/>
                    </a:solidFill>
                  </a:tcPr>
                </a:tc>
                <a:tc>
                  <a:txBody>
                    <a:bodyPr/>
                    <a:lstStyle/>
                    <a:p>
                      <a:pPr>
                        <a:buNone/>
                      </a:pPr>
                      <a:r>
                        <a:rPr lang="en-IN" sz="2000" dirty="0"/>
                        <a:t>Improve detection of modified and paraphrased content.</a:t>
                      </a:r>
                    </a:p>
                  </a:txBody>
                  <a:tcPr marL="72522" marR="72522" marT="36261" marB="36261" anchor="ctr">
                    <a:solidFill>
                      <a:srgbClr val="E9EBF5"/>
                    </a:solidFill>
                  </a:tcPr>
                </a:tc>
                <a:extLst>
                  <a:ext uri="{0D108BD9-81ED-4DB2-BD59-A6C34878D82A}">
                    <a16:rowId xmlns:a16="http://schemas.microsoft.com/office/drawing/2014/main" val="1433446955"/>
                  </a:ext>
                </a:extLst>
              </a:tr>
              <a:tr h="593866">
                <a:tc>
                  <a:txBody>
                    <a:bodyPr/>
                    <a:lstStyle/>
                    <a:p>
                      <a:pPr algn="ctr">
                        <a:buNone/>
                      </a:pPr>
                      <a:r>
                        <a:rPr lang="en-IN" sz="2000" b="1" dirty="0"/>
                        <a:t>7</a:t>
                      </a:r>
                    </a:p>
                  </a:txBody>
                  <a:tcPr marL="72522" marR="72522" marT="36261" marB="36261" anchor="ctr">
                    <a:solidFill>
                      <a:srgbClr val="CFD5EA"/>
                    </a:solidFill>
                  </a:tcPr>
                </a:tc>
                <a:tc>
                  <a:txBody>
                    <a:bodyPr/>
                    <a:lstStyle/>
                    <a:p>
                      <a:pPr>
                        <a:buNone/>
                      </a:pPr>
                      <a:r>
                        <a:rPr lang="en-IN" sz="2000"/>
                        <a:t>Document Storage</a:t>
                      </a:r>
                    </a:p>
                  </a:txBody>
                  <a:tcPr marL="72522" marR="72522" marT="36261" marB="36261" anchor="ctr">
                    <a:solidFill>
                      <a:srgbClr val="CFD5EA"/>
                    </a:solidFill>
                  </a:tcPr>
                </a:tc>
                <a:tc>
                  <a:txBody>
                    <a:bodyPr/>
                    <a:lstStyle/>
                    <a:p>
                      <a:pPr>
                        <a:buNone/>
                      </a:pPr>
                      <a:r>
                        <a:rPr lang="en-IN" sz="2000" dirty="0"/>
                        <a:t>Store previous documents for future comparison.</a:t>
                      </a:r>
                    </a:p>
                  </a:txBody>
                  <a:tcPr marL="72522" marR="72522" marT="36261" marB="36261" anchor="ctr">
                    <a:solidFill>
                      <a:srgbClr val="CFD5EA"/>
                    </a:solidFill>
                  </a:tcPr>
                </a:tc>
                <a:extLst>
                  <a:ext uri="{0D108BD9-81ED-4DB2-BD59-A6C34878D82A}">
                    <a16:rowId xmlns:a16="http://schemas.microsoft.com/office/drawing/2014/main" val="1686970501"/>
                  </a:ext>
                </a:extLst>
              </a:tr>
              <a:tr h="593866">
                <a:tc>
                  <a:txBody>
                    <a:bodyPr/>
                    <a:lstStyle/>
                    <a:p>
                      <a:pPr algn="ctr">
                        <a:buNone/>
                      </a:pPr>
                      <a:r>
                        <a:rPr lang="en-IN" sz="2000" b="1" dirty="0"/>
                        <a:t>8</a:t>
                      </a:r>
                    </a:p>
                  </a:txBody>
                  <a:tcPr marL="72522" marR="72522" marT="36261" marB="36261" anchor="ctr">
                    <a:solidFill>
                      <a:srgbClr val="E9EBF5"/>
                    </a:solidFill>
                  </a:tcPr>
                </a:tc>
                <a:tc>
                  <a:txBody>
                    <a:bodyPr/>
                    <a:lstStyle/>
                    <a:p>
                      <a:pPr>
                        <a:buNone/>
                      </a:pPr>
                      <a:r>
                        <a:rPr lang="en-IN" sz="2000"/>
                        <a:t>Advanced Similarity Techniques</a:t>
                      </a:r>
                    </a:p>
                  </a:txBody>
                  <a:tcPr marL="72522" marR="72522" marT="36261" marB="36261" anchor="ctr">
                    <a:solidFill>
                      <a:srgbClr val="E9EBF5"/>
                    </a:solidFill>
                  </a:tcPr>
                </a:tc>
                <a:tc>
                  <a:txBody>
                    <a:bodyPr/>
                    <a:lstStyle/>
                    <a:p>
                      <a:pPr>
                        <a:buNone/>
                      </a:pPr>
                      <a:r>
                        <a:rPr lang="en-IN" sz="2000" dirty="0"/>
                        <a:t>Add more advanced text similarity methods.</a:t>
                      </a:r>
                    </a:p>
                  </a:txBody>
                  <a:tcPr marL="72522" marR="72522" marT="36261" marB="36261" anchor="ctr">
                    <a:solidFill>
                      <a:srgbClr val="E9EBF5"/>
                    </a:solidFill>
                  </a:tcPr>
                </a:tc>
                <a:extLst>
                  <a:ext uri="{0D108BD9-81ED-4DB2-BD59-A6C34878D82A}">
                    <a16:rowId xmlns:a16="http://schemas.microsoft.com/office/drawing/2014/main" val="2902558697"/>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p:cNvSpPr/>
          <p:nvPr/>
        </p:nvSpPr>
        <p:spPr>
          <a:xfrm>
            <a:off x="3736107" y="2619376"/>
            <a:ext cx="4946253" cy="1357820"/>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b="1" dirty="0"/>
              <a:t>Thank you</a:t>
            </a:r>
          </a:p>
        </p:txBody>
      </p:sp>
    </p:spTree>
    <p:extLst>
      <p:ext uri="{BB962C8B-B14F-4D97-AF65-F5344CB8AC3E}">
        <p14:creationId xmlns:p14="http://schemas.microsoft.com/office/powerpoint/2010/main" val="13135434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252</TotalTime>
  <Words>953</Words>
  <Application>Microsoft Office PowerPoint</Application>
  <PresentationFormat>Widescreen</PresentationFormat>
  <Paragraphs>115</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Times New Roman</vt:lpstr>
      <vt:lpstr>Office Theme</vt:lpstr>
      <vt:lpstr>       Data Structures and Algorithms -3 (25CS2103E)  STUDENT DOCUMENT SIMILARITY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Sirisha Devi</dc:creator>
  <cp:lastModifiedBy>K ANUSRI</cp:lastModifiedBy>
  <cp:revision>26</cp:revision>
  <dcterms:created xsi:type="dcterms:W3CDTF">2024-08-29T05:25:00Z</dcterms:created>
  <dcterms:modified xsi:type="dcterms:W3CDTF">2026-09-19T07:27:26Z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FB2A1F042FC047C6B4D7E0BF0C20B2E9_13</vt:lpwstr>
  </property>
  <property fmtid="{D5CDD505-2E9C-101B-9397-08002B2CF9AE}" pid="3" name="KSOProductBuildVer">
    <vt:lpwstr>1033-12.2.0.23131</vt:lpwstr>
  </property>
</Properties>
</file>